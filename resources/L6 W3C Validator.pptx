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63" r:id="rId6"/>
    <p:sldId id="257" r:id="rId7"/>
    <p:sldId id="258" r:id="rId8"/>
    <p:sldId id="259" r:id="rId9"/>
    <p:sldId id="260" r:id="rId10"/>
    <p:sldId id="261" r:id="rId11"/>
    <p:sldId id="262"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9F47E3B-6525-6320-0760-CA3D4EF7B7B5}" v="2" dt="2025-12-08T09:53:57.22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theme" Target="theme/theme1.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ozena Stansfield" userId="S::110902@newdur.ac.uk::b1d55e24-087a-4f8d-a8ed-e198d47a0d56" providerId="AD" clId="Web-{C9F47E3B-6525-6320-0760-CA3D4EF7B7B5}"/>
    <pc:docChg chg="modSld">
      <pc:chgData name="Bozena Stansfield" userId="S::110902@newdur.ac.uk::b1d55e24-087a-4f8d-a8ed-e198d47a0d56" providerId="AD" clId="Web-{C9F47E3B-6525-6320-0760-CA3D4EF7B7B5}" dt="2025-12-08T09:53:57.229" v="1" actId="20577"/>
      <pc:docMkLst>
        <pc:docMk/>
      </pc:docMkLst>
      <pc:sldChg chg="modSp">
        <pc:chgData name="Bozena Stansfield" userId="S::110902@newdur.ac.uk::b1d55e24-087a-4f8d-a8ed-e198d47a0d56" providerId="AD" clId="Web-{C9F47E3B-6525-6320-0760-CA3D4EF7B7B5}" dt="2025-12-08T09:53:57.229" v="1" actId="20577"/>
        <pc:sldMkLst>
          <pc:docMk/>
          <pc:sldMk cId="217891068" sldId="263"/>
        </pc:sldMkLst>
        <pc:spChg chg="mod">
          <ac:chgData name="Bozena Stansfield" userId="S::110902@newdur.ac.uk::b1d55e24-087a-4f8d-a8ed-e198d47a0d56" providerId="AD" clId="Web-{C9F47E3B-6525-6320-0760-CA3D4EF7B7B5}" dt="2025-12-08T09:53:57.229" v="1" actId="20577"/>
          <ac:spMkLst>
            <pc:docMk/>
            <pc:sldMk cId="217891068" sldId="263"/>
            <ac:spMk id="3" creationId="{F9BA8C83-4B30-4659-4A35-27F01D6330D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12/8/2025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validator.w3.org/#validate_by_upload"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5666830-9A19-4E01-8505-D6C7F9AC56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Volume indicators">
            <a:extLst>
              <a:ext uri="{FF2B5EF4-FFF2-40B4-BE49-F238E27FC236}">
                <a16:creationId xmlns:a16="http://schemas.microsoft.com/office/drawing/2014/main" id="{67DFC30E-8B23-68AE-7419-B6A248BC83F3}"/>
              </a:ext>
            </a:extLst>
          </p:cNvPr>
          <p:cNvPicPr>
            <a:picLocks noChangeAspect="1"/>
          </p:cNvPicPr>
          <p:nvPr/>
        </p:nvPicPr>
        <p:blipFill rotWithShape="1">
          <a:blip r:embed="rId2"/>
          <a:srcRect l="11703" r="4460" b="2"/>
          <a:stretch/>
        </p:blipFill>
        <p:spPr>
          <a:xfrm>
            <a:off x="4110127" y="10"/>
            <a:ext cx="8081873" cy="6857990"/>
          </a:xfrm>
          <a:custGeom>
            <a:avLst/>
            <a:gdLst/>
            <a:ahLst/>
            <a:cxnLst/>
            <a:rect l="l" t="t" r="r" b="b"/>
            <a:pathLst>
              <a:path w="8081873" h="6858000">
                <a:moveTo>
                  <a:pt x="0" y="0"/>
                </a:moveTo>
                <a:lnTo>
                  <a:pt x="8081873" y="0"/>
                </a:lnTo>
                <a:lnTo>
                  <a:pt x="8081873" y="6858000"/>
                </a:lnTo>
                <a:lnTo>
                  <a:pt x="0" y="6858000"/>
                </a:lnTo>
                <a:lnTo>
                  <a:pt x="68897" y="6734633"/>
                </a:lnTo>
                <a:cubicBezTo>
                  <a:pt x="558802" y="5812845"/>
                  <a:pt x="848920" y="4668597"/>
                  <a:pt x="848920" y="3429000"/>
                </a:cubicBezTo>
                <a:cubicBezTo>
                  <a:pt x="848920" y="2189404"/>
                  <a:pt x="558802" y="1045156"/>
                  <a:pt x="68897" y="123368"/>
                </a:cubicBezTo>
                <a:close/>
              </a:path>
            </a:pathLst>
          </a:custGeom>
        </p:spPr>
      </p:pic>
      <p:sp useBgFill="1">
        <p:nvSpPr>
          <p:cNvPr id="11" name="Freeform: Shape 10">
            <a:extLst>
              <a:ext uri="{FF2B5EF4-FFF2-40B4-BE49-F238E27FC236}">
                <a16:creationId xmlns:a16="http://schemas.microsoft.com/office/drawing/2014/main" id="{AE9FC877-7FB6-4D22-9988-35420644E2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59047" cy="6858000"/>
          </a:xfrm>
          <a:custGeom>
            <a:avLst/>
            <a:gdLst>
              <a:gd name="connsiteX0" fmla="*/ 0 w 4959047"/>
              <a:gd name="connsiteY0" fmla="*/ 0 h 6858000"/>
              <a:gd name="connsiteX1" fmla="*/ 4110127 w 4959047"/>
              <a:gd name="connsiteY1" fmla="*/ 0 h 6858000"/>
              <a:gd name="connsiteX2" fmla="*/ 4179024 w 4959047"/>
              <a:gd name="connsiteY2" fmla="*/ 123368 h 6858000"/>
              <a:gd name="connsiteX3" fmla="*/ 4959047 w 4959047"/>
              <a:gd name="connsiteY3" fmla="*/ 3429000 h 6858000"/>
              <a:gd name="connsiteX4" fmla="*/ 4179024 w 4959047"/>
              <a:gd name="connsiteY4" fmla="*/ 6734633 h 6858000"/>
              <a:gd name="connsiteX5" fmla="*/ 4110127 w 4959047"/>
              <a:gd name="connsiteY5" fmla="*/ 6858000 h 6858000"/>
              <a:gd name="connsiteX6" fmla="*/ 0 w 495904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59047" h="6858000">
                <a:moveTo>
                  <a:pt x="0" y="0"/>
                </a:moveTo>
                <a:lnTo>
                  <a:pt x="4110127" y="0"/>
                </a:lnTo>
                <a:lnTo>
                  <a:pt x="4179024" y="123368"/>
                </a:lnTo>
                <a:cubicBezTo>
                  <a:pt x="4668929" y="1045156"/>
                  <a:pt x="4959047" y="2189404"/>
                  <a:pt x="4959047" y="3429000"/>
                </a:cubicBezTo>
                <a:cubicBezTo>
                  <a:pt x="4959047" y="4668597"/>
                  <a:pt x="4668929" y="5812845"/>
                  <a:pt x="4179024" y="6734633"/>
                </a:cubicBezTo>
                <a:lnTo>
                  <a:pt x="4110127" y="6858000"/>
                </a:lnTo>
                <a:lnTo>
                  <a:pt x="0" y="6858000"/>
                </a:lnTo>
                <a:close/>
              </a:path>
            </a:pathLst>
          </a:custGeom>
          <a:ln w="9525">
            <a:solidFill>
              <a:schemeClr val="tx2">
                <a:lumMod val="10000"/>
                <a:lumOff val="90000"/>
              </a:schemeClr>
            </a:solidFill>
          </a:ln>
          <a:effectLst>
            <a:outerShdw blurRad="50800" dist="38100" algn="l" rotWithShape="0">
              <a:schemeClr val="bg1">
                <a:lumMod val="85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Freeform: Shape 12">
            <a:extLst>
              <a:ext uri="{FF2B5EF4-FFF2-40B4-BE49-F238E27FC236}">
                <a16:creationId xmlns:a16="http://schemas.microsoft.com/office/drawing/2014/main" id="{E41809D1-F12E-46BB-B804-5F209D325E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948887" cy="6858000"/>
          </a:xfrm>
          <a:custGeom>
            <a:avLst/>
            <a:gdLst>
              <a:gd name="connsiteX0" fmla="*/ 0 w 4948887"/>
              <a:gd name="connsiteY0" fmla="*/ 0 h 6858000"/>
              <a:gd name="connsiteX1" fmla="*/ 4099967 w 4948887"/>
              <a:gd name="connsiteY1" fmla="*/ 0 h 6858000"/>
              <a:gd name="connsiteX2" fmla="*/ 4168864 w 4948887"/>
              <a:gd name="connsiteY2" fmla="*/ 123368 h 6858000"/>
              <a:gd name="connsiteX3" fmla="*/ 4948887 w 4948887"/>
              <a:gd name="connsiteY3" fmla="*/ 3429000 h 6858000"/>
              <a:gd name="connsiteX4" fmla="*/ 4168864 w 4948887"/>
              <a:gd name="connsiteY4" fmla="*/ 6734633 h 6858000"/>
              <a:gd name="connsiteX5" fmla="*/ 4099967 w 4948887"/>
              <a:gd name="connsiteY5" fmla="*/ 6858000 h 6858000"/>
              <a:gd name="connsiteX6" fmla="*/ 0 w 494888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948887" h="6858000">
                <a:moveTo>
                  <a:pt x="0" y="0"/>
                </a:moveTo>
                <a:lnTo>
                  <a:pt x="4099967" y="0"/>
                </a:lnTo>
                <a:lnTo>
                  <a:pt x="4168864" y="123368"/>
                </a:lnTo>
                <a:cubicBezTo>
                  <a:pt x="4658769" y="1045156"/>
                  <a:pt x="4948887" y="2189404"/>
                  <a:pt x="4948887" y="3429000"/>
                </a:cubicBezTo>
                <a:cubicBezTo>
                  <a:pt x="4948887" y="4668597"/>
                  <a:pt x="4658769" y="5812845"/>
                  <a:pt x="4168864" y="6734633"/>
                </a:cubicBezTo>
                <a:lnTo>
                  <a:pt x="4099967"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p:cNvSpPr>
            <a:spLocks noGrp="1"/>
          </p:cNvSpPr>
          <p:nvPr>
            <p:ph type="ctrTitle"/>
          </p:nvPr>
        </p:nvSpPr>
        <p:spPr>
          <a:xfrm>
            <a:off x="477981" y="1122363"/>
            <a:ext cx="4023360" cy="3204134"/>
          </a:xfrm>
        </p:spPr>
        <p:txBody>
          <a:bodyPr anchor="b">
            <a:normAutofit/>
          </a:bodyPr>
          <a:lstStyle/>
          <a:p>
            <a:pPr algn="l"/>
            <a:r>
              <a:rPr lang="en-US" sz="4800">
                <a:cs typeface="Calibri Light"/>
              </a:rPr>
              <a:t>W3C Validator</a:t>
            </a:r>
          </a:p>
        </p:txBody>
      </p:sp>
      <p:sp>
        <p:nvSpPr>
          <p:cNvPr id="3" name="Subtitle 2"/>
          <p:cNvSpPr>
            <a:spLocks noGrp="1"/>
          </p:cNvSpPr>
          <p:nvPr>
            <p:ph type="subTitle" idx="1"/>
          </p:nvPr>
        </p:nvSpPr>
        <p:spPr>
          <a:xfrm>
            <a:off x="477981" y="4872922"/>
            <a:ext cx="3933306" cy="1208141"/>
          </a:xfrm>
        </p:spPr>
        <p:txBody>
          <a:bodyPr vert="horz" lIns="91440" tIns="45720" rIns="91440" bIns="45720" rtlCol="0">
            <a:normAutofit/>
          </a:bodyPr>
          <a:lstStyle/>
          <a:p>
            <a:pPr algn="l"/>
            <a:r>
              <a:rPr lang="en-US" sz="2000">
                <a:cs typeface="Calibri"/>
              </a:rPr>
              <a:t>Validating your HTML code</a:t>
            </a:r>
            <a:endParaRPr lang="en-US" sz="2000"/>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402336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029D5AD-8348-4446-B191-6A9B6FE03F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Freeform: Shape 9">
            <a:extLst>
              <a:ext uri="{FF2B5EF4-FFF2-40B4-BE49-F238E27FC236}">
                <a16:creationId xmlns:a16="http://schemas.microsoft.com/office/drawing/2014/main" id="{A3F395A2-2B64-4749-BD93-2F159C7E1F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1899601"/>
          </a:xfrm>
          <a:custGeom>
            <a:avLst/>
            <a:gdLst>
              <a:gd name="connsiteX0" fmla="*/ 0 w 12188952"/>
              <a:gd name="connsiteY0" fmla="*/ 0 h 1899601"/>
              <a:gd name="connsiteX1" fmla="*/ 12188952 w 12188952"/>
              <a:gd name="connsiteY1" fmla="*/ 0 h 1899601"/>
              <a:gd name="connsiteX2" fmla="*/ 12188952 w 12188952"/>
              <a:gd name="connsiteY2" fmla="*/ 1635106 h 1899601"/>
              <a:gd name="connsiteX3" fmla="*/ 11356325 w 12188952"/>
              <a:gd name="connsiteY3" fmla="*/ 1707615 h 1899601"/>
              <a:gd name="connsiteX4" fmla="*/ 6096001 w 12188952"/>
              <a:gd name="connsiteY4" fmla="*/ 1899601 h 1899601"/>
              <a:gd name="connsiteX5" fmla="*/ 835678 w 12188952"/>
              <a:gd name="connsiteY5" fmla="*/ 1707615 h 1899601"/>
              <a:gd name="connsiteX6" fmla="*/ 0 w 12188952"/>
              <a:gd name="connsiteY6" fmla="*/ 1634841 h 1899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88952" h="1899601">
                <a:moveTo>
                  <a:pt x="0" y="0"/>
                </a:moveTo>
                <a:lnTo>
                  <a:pt x="12188952" y="0"/>
                </a:lnTo>
                <a:lnTo>
                  <a:pt x="12188952" y="1635106"/>
                </a:lnTo>
                <a:lnTo>
                  <a:pt x="11356325" y="1707615"/>
                </a:lnTo>
                <a:cubicBezTo>
                  <a:pt x="9739512" y="1831240"/>
                  <a:pt x="7961919" y="1899601"/>
                  <a:pt x="6096001" y="1899601"/>
                </a:cubicBezTo>
                <a:cubicBezTo>
                  <a:pt x="4230084" y="1899601"/>
                  <a:pt x="2452490" y="1831240"/>
                  <a:pt x="835678" y="1707615"/>
                </a:cubicBezTo>
                <a:lnTo>
                  <a:pt x="0" y="1634841"/>
                </a:lnTo>
                <a:close/>
              </a:path>
            </a:pathLst>
          </a:custGeom>
          <a:ln w="9525">
            <a:solidFill>
              <a:srgbClr val="E6E6E6"/>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2" name="Freeform: Shape 11">
            <a:extLst>
              <a:ext uri="{FF2B5EF4-FFF2-40B4-BE49-F238E27FC236}">
                <a16:creationId xmlns:a16="http://schemas.microsoft.com/office/drawing/2014/main" id="{5CF0135B-EAB8-4CA0-896C-2D897ECD2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1890722"/>
          </a:xfrm>
          <a:custGeom>
            <a:avLst/>
            <a:gdLst>
              <a:gd name="connsiteX0" fmla="*/ 0 w 12192000"/>
              <a:gd name="connsiteY0" fmla="*/ 0 h 1890722"/>
              <a:gd name="connsiteX1" fmla="*/ 12192000 w 12192000"/>
              <a:gd name="connsiteY1" fmla="*/ 0 h 1890722"/>
              <a:gd name="connsiteX2" fmla="*/ 12192000 w 12192000"/>
              <a:gd name="connsiteY2" fmla="*/ 1626227 h 1890722"/>
              <a:gd name="connsiteX3" fmla="*/ 11359165 w 12192000"/>
              <a:gd name="connsiteY3" fmla="*/ 1698736 h 1890722"/>
              <a:gd name="connsiteX4" fmla="*/ 6097526 w 12192000"/>
              <a:gd name="connsiteY4" fmla="*/ 1890722 h 1890722"/>
              <a:gd name="connsiteX5" fmla="*/ 835887 w 12192000"/>
              <a:gd name="connsiteY5" fmla="*/ 1698736 h 1890722"/>
              <a:gd name="connsiteX6" fmla="*/ 0 w 12192000"/>
              <a:gd name="connsiteY6" fmla="*/ 1625962 h 1890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1890722">
                <a:moveTo>
                  <a:pt x="0" y="0"/>
                </a:moveTo>
                <a:lnTo>
                  <a:pt x="12192000" y="0"/>
                </a:lnTo>
                <a:lnTo>
                  <a:pt x="12192000" y="1626227"/>
                </a:lnTo>
                <a:lnTo>
                  <a:pt x="11359165" y="1698736"/>
                </a:lnTo>
                <a:cubicBezTo>
                  <a:pt x="9741947" y="1822361"/>
                  <a:pt x="7963910" y="1890722"/>
                  <a:pt x="6097526" y="1890722"/>
                </a:cubicBezTo>
                <a:cubicBezTo>
                  <a:pt x="4231142" y="1890722"/>
                  <a:pt x="2453104" y="1822361"/>
                  <a:pt x="835887" y="1698736"/>
                </a:cubicBezTo>
                <a:lnTo>
                  <a:pt x="0" y="1625962"/>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46CDB44-3452-3BE1-AE62-D0923CE6BFC6}"/>
              </a:ext>
            </a:extLst>
          </p:cNvPr>
          <p:cNvSpPr>
            <a:spLocks noGrp="1"/>
          </p:cNvSpPr>
          <p:nvPr>
            <p:ph type="title"/>
          </p:nvPr>
        </p:nvSpPr>
        <p:spPr>
          <a:xfrm>
            <a:off x="838200" y="253397"/>
            <a:ext cx="10515600" cy="1273233"/>
          </a:xfrm>
        </p:spPr>
        <p:txBody>
          <a:bodyPr>
            <a:normAutofit/>
          </a:bodyPr>
          <a:lstStyle/>
          <a:p>
            <a:r>
              <a:rPr lang="en-US" sz="4000">
                <a:cs typeface="Calibri Light"/>
              </a:rPr>
              <a:t>What is the W3C Markup Validation Service</a:t>
            </a:r>
            <a:endParaRPr lang="en-US" sz="4000"/>
          </a:p>
        </p:txBody>
      </p:sp>
      <p:sp>
        <p:nvSpPr>
          <p:cNvPr id="14" name="Rectangle 13">
            <a:extLst>
              <a:ext uri="{FF2B5EF4-FFF2-40B4-BE49-F238E27FC236}">
                <a16:creationId xmlns:a16="http://schemas.microsoft.com/office/drawing/2014/main" id="{92C3387C-D24F-4737-8A37-1DC5CFF09C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2452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9BA8C83-4B30-4659-4A35-27F01D6330D3}"/>
              </a:ext>
            </a:extLst>
          </p:cNvPr>
          <p:cNvSpPr>
            <a:spLocks noGrp="1"/>
          </p:cNvSpPr>
          <p:nvPr>
            <p:ph idx="1"/>
          </p:nvPr>
        </p:nvSpPr>
        <p:spPr>
          <a:xfrm>
            <a:off x="838200" y="2478024"/>
            <a:ext cx="10515600" cy="3694176"/>
          </a:xfrm>
        </p:spPr>
        <p:txBody>
          <a:bodyPr vert="horz" lIns="91440" tIns="45720" rIns="91440" bIns="45720" rtlCol="0" anchor="t">
            <a:normAutofit/>
          </a:bodyPr>
          <a:lstStyle/>
          <a:p>
            <a:pPr marL="0" indent="0">
              <a:buNone/>
            </a:pPr>
            <a:r>
              <a:rPr lang="en-US" sz="2000" dirty="0">
                <a:ea typeface="+mn-lt"/>
                <a:cs typeface="+mn-lt"/>
              </a:rPr>
              <a:t>The W3C Markup Validation Service is like a super helpful checker for websites. </a:t>
            </a:r>
          </a:p>
          <a:p>
            <a:pPr marL="0" indent="0">
              <a:buNone/>
            </a:pPr>
            <a:r>
              <a:rPr lang="en-US" sz="2000" dirty="0">
                <a:ea typeface="+mn-lt"/>
                <a:cs typeface="+mn-lt"/>
              </a:rPr>
              <a:t>It's a bit like proofreading an essay. When you write an essay, you want to make sure it's clear and follows all the grammar rules so others can understand it easily. </a:t>
            </a:r>
          </a:p>
          <a:p>
            <a:pPr marL="0" indent="0">
              <a:buNone/>
            </a:pPr>
            <a:r>
              <a:rPr lang="en-US" sz="2000" dirty="0">
                <a:ea typeface="+mn-lt"/>
                <a:cs typeface="+mn-lt"/>
              </a:rPr>
              <a:t>The W3C validator does the same thing but for your website's code.</a:t>
            </a:r>
            <a:endParaRPr lang="en-US" sz="2000" dirty="0">
              <a:ea typeface="Calibri"/>
              <a:cs typeface="Calibri"/>
            </a:endParaRPr>
          </a:p>
          <a:p>
            <a:pPr marL="0" indent="0">
              <a:buNone/>
            </a:pPr>
            <a:r>
              <a:rPr lang="en-US" sz="2000" dirty="0">
                <a:ea typeface="+mn-lt"/>
                <a:cs typeface="+mn-lt"/>
              </a:rPr>
              <a:t>Using this service is super important because it helps make sure your website behaves properly. It catches mistakes or problems in your code that might cause issues like broken features, strange-looking layouts, or things not working as they should in different web browsers.</a:t>
            </a:r>
            <a:endParaRPr lang="en-US" sz="2000" dirty="0"/>
          </a:p>
          <a:p>
            <a:pPr marL="0" indent="0">
              <a:buNone/>
            </a:pPr>
            <a:r>
              <a:rPr lang="en-US" sz="2000" dirty="0">
                <a:ea typeface="+mn-lt"/>
                <a:cs typeface="+mn-lt"/>
              </a:rPr>
              <a:t>By checking your website's code with the W3C Markup Validation Service, you can fix those mistakes early on and make sure your site works well for everyone who visits, no matter what browser they're using. </a:t>
            </a:r>
            <a:endParaRPr lang="en-US" sz="2000" dirty="0"/>
          </a:p>
          <a:p>
            <a:pPr marL="0" indent="0">
              <a:buNone/>
            </a:pPr>
            <a:endParaRPr lang="en-US" sz="2000">
              <a:cs typeface="Calibri"/>
            </a:endParaRPr>
          </a:p>
        </p:txBody>
      </p:sp>
    </p:spTree>
    <p:extLst>
      <p:ext uri="{BB962C8B-B14F-4D97-AF65-F5344CB8AC3E}">
        <p14:creationId xmlns:p14="http://schemas.microsoft.com/office/powerpoint/2010/main" val="2178910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081CBA-07F1-85A1-D2CC-933796A1150F}"/>
              </a:ext>
            </a:extLst>
          </p:cNvPr>
          <p:cNvSpPr>
            <a:spLocks noGrp="1"/>
          </p:cNvSpPr>
          <p:nvPr>
            <p:ph type="title"/>
          </p:nvPr>
        </p:nvSpPr>
        <p:spPr>
          <a:xfrm>
            <a:off x="841248" y="426720"/>
            <a:ext cx="10506456" cy="1919141"/>
          </a:xfrm>
        </p:spPr>
        <p:txBody>
          <a:bodyPr anchor="b">
            <a:normAutofit/>
          </a:bodyPr>
          <a:lstStyle/>
          <a:p>
            <a:r>
              <a:rPr lang="en-US" sz="6000">
                <a:cs typeface="Calibri Light"/>
              </a:rPr>
              <a:t>Get your HTML File Ready </a:t>
            </a:r>
            <a:endParaRPr lang="en-US" sz="6000"/>
          </a:p>
        </p:txBody>
      </p:sp>
      <p:sp>
        <p:nvSpPr>
          <p:cNvPr id="17" name="Rectangle 16">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382960D0-CA5A-384C-1A4F-87A0DCE4911F}"/>
              </a:ext>
            </a:extLst>
          </p:cNvPr>
          <p:cNvSpPr>
            <a:spLocks noGrp="1"/>
          </p:cNvSpPr>
          <p:nvPr>
            <p:ph idx="1"/>
          </p:nvPr>
        </p:nvSpPr>
        <p:spPr>
          <a:xfrm>
            <a:off x="841248" y="3337269"/>
            <a:ext cx="10509504" cy="2905686"/>
          </a:xfrm>
        </p:spPr>
        <p:txBody>
          <a:bodyPr vert="horz" lIns="91440" tIns="45720" rIns="91440" bIns="45720" rtlCol="0" anchor="t">
            <a:normAutofit/>
          </a:bodyPr>
          <a:lstStyle/>
          <a:p>
            <a:r>
              <a:rPr lang="en-US" sz="2200" dirty="0">
                <a:cs typeface="Calibri"/>
              </a:rPr>
              <a:t>Make sure your HTML code is saved in a file with a 'html' extension. </a:t>
            </a:r>
          </a:p>
          <a:p>
            <a:pPr marL="0" indent="0">
              <a:buNone/>
            </a:pPr>
            <a:r>
              <a:rPr lang="en-US" sz="2200" dirty="0">
                <a:cs typeface="Calibri"/>
              </a:rPr>
              <a:t>You might consider doing this: </a:t>
            </a:r>
          </a:p>
          <a:p>
            <a:pPr marL="342900" indent="-342900"/>
            <a:r>
              <a:rPr lang="en-US" sz="2200">
                <a:cs typeface="Calibri"/>
              </a:rPr>
              <a:t>Go to templates and your html code for base, </a:t>
            </a:r>
            <a:r>
              <a:rPr lang="en-US" sz="2200" err="1">
                <a:cs typeface="Calibri"/>
              </a:rPr>
              <a:t>weather_forecast</a:t>
            </a:r>
            <a:r>
              <a:rPr lang="en-US" sz="2200">
                <a:cs typeface="Calibri"/>
              </a:rPr>
              <a:t> and </a:t>
            </a:r>
            <a:r>
              <a:rPr lang="en-US" sz="2200" err="1">
                <a:cs typeface="Calibri"/>
              </a:rPr>
              <a:t>forecast_result</a:t>
            </a:r>
            <a:r>
              <a:rPr lang="en-US" sz="2200">
                <a:cs typeface="Calibri"/>
              </a:rPr>
              <a:t>. </a:t>
            </a:r>
          </a:p>
          <a:p>
            <a:pPr marL="342900" indent="-342900"/>
            <a:r>
              <a:rPr lang="en-US" sz="2200">
                <a:cs typeface="Calibri"/>
              </a:rPr>
              <a:t>Open Notepad ++  and copy your code in there</a:t>
            </a:r>
            <a:endParaRPr lang="en-US" sz="2200" dirty="0">
              <a:cs typeface="Calibri"/>
            </a:endParaRPr>
          </a:p>
          <a:p>
            <a:pPr marL="342900" indent="-342900"/>
            <a:r>
              <a:rPr lang="en-US" sz="2200">
                <a:cs typeface="Calibri"/>
              </a:rPr>
              <a:t>When saving your code select Hyper Text Markup Language file in 'Save as type'</a:t>
            </a:r>
            <a:endParaRPr lang="en-US" sz="2200" dirty="0">
              <a:cs typeface="Calibri"/>
            </a:endParaRPr>
          </a:p>
          <a:p>
            <a:pPr marL="0" indent="0">
              <a:buNone/>
            </a:pPr>
            <a:endParaRPr lang="en-US" sz="2200">
              <a:cs typeface="Calibri"/>
            </a:endParaRPr>
          </a:p>
        </p:txBody>
      </p:sp>
    </p:spTree>
    <p:extLst>
      <p:ext uri="{BB962C8B-B14F-4D97-AF65-F5344CB8AC3E}">
        <p14:creationId xmlns:p14="http://schemas.microsoft.com/office/powerpoint/2010/main" val="32150835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71E84E-4C68-6D84-3903-BABD4F0CF914}"/>
              </a:ext>
            </a:extLst>
          </p:cNvPr>
          <p:cNvSpPr>
            <a:spLocks noGrp="1"/>
          </p:cNvSpPr>
          <p:nvPr>
            <p:ph type="title"/>
          </p:nvPr>
        </p:nvSpPr>
        <p:spPr>
          <a:xfrm>
            <a:off x="841248" y="426720"/>
            <a:ext cx="10506456" cy="1919141"/>
          </a:xfrm>
        </p:spPr>
        <p:txBody>
          <a:bodyPr anchor="b">
            <a:normAutofit/>
          </a:bodyPr>
          <a:lstStyle/>
          <a:p>
            <a:r>
              <a:rPr lang="en-US" sz="6000">
                <a:cs typeface="Calibri Light"/>
              </a:rPr>
              <a:t>Access the W3C Markup Validation Service</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1D2A4883-2D02-CA66-1C6C-173A19FC5D9D}"/>
              </a:ext>
            </a:extLst>
          </p:cNvPr>
          <p:cNvSpPr>
            <a:spLocks noGrp="1"/>
          </p:cNvSpPr>
          <p:nvPr>
            <p:ph idx="1"/>
          </p:nvPr>
        </p:nvSpPr>
        <p:spPr>
          <a:xfrm>
            <a:off x="841248" y="3337269"/>
            <a:ext cx="10509504" cy="2905686"/>
          </a:xfrm>
        </p:spPr>
        <p:txBody>
          <a:bodyPr vert="horz" lIns="91440" tIns="45720" rIns="91440" bIns="45720" rtlCol="0">
            <a:normAutofit/>
          </a:bodyPr>
          <a:lstStyle/>
          <a:p>
            <a:r>
              <a:rPr lang="en-US" sz="2200">
                <a:cs typeface="Calibri"/>
              </a:rPr>
              <a:t>Go to </a:t>
            </a:r>
            <a:r>
              <a:rPr lang="en-US" sz="2200">
                <a:cs typeface="Calibri"/>
                <a:hlinkClick r:id="rId2"/>
              </a:rPr>
              <a:t>W3C Markup Validation Service</a:t>
            </a:r>
          </a:p>
          <a:p>
            <a:r>
              <a:rPr lang="en-US" sz="2200">
                <a:cs typeface="Calibri"/>
              </a:rPr>
              <a:t>Click on the "Validate by File Upload" option if your HTML file is on your local machine. </a:t>
            </a:r>
          </a:p>
        </p:txBody>
      </p:sp>
    </p:spTree>
    <p:extLst>
      <p:ext uri="{BB962C8B-B14F-4D97-AF65-F5344CB8AC3E}">
        <p14:creationId xmlns:p14="http://schemas.microsoft.com/office/powerpoint/2010/main" val="1750310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D1E76B4-2CB8-6056-9BDD-3F2D224AA3FF}"/>
              </a:ext>
            </a:extLst>
          </p:cNvPr>
          <p:cNvSpPr>
            <a:spLocks noGrp="1"/>
          </p:cNvSpPr>
          <p:nvPr>
            <p:ph type="title"/>
          </p:nvPr>
        </p:nvSpPr>
        <p:spPr>
          <a:xfrm>
            <a:off x="841248" y="426720"/>
            <a:ext cx="10506456" cy="1919141"/>
          </a:xfrm>
        </p:spPr>
        <p:txBody>
          <a:bodyPr anchor="b">
            <a:normAutofit/>
          </a:bodyPr>
          <a:lstStyle/>
          <a:p>
            <a:r>
              <a:rPr lang="en-US" sz="6000">
                <a:cs typeface="Calibri Light"/>
              </a:rPr>
              <a:t>Upload your HTML file</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EFFF98C4-C321-E77B-6182-A840134D029F}"/>
              </a:ext>
            </a:extLst>
          </p:cNvPr>
          <p:cNvSpPr>
            <a:spLocks noGrp="1"/>
          </p:cNvSpPr>
          <p:nvPr>
            <p:ph idx="1"/>
          </p:nvPr>
        </p:nvSpPr>
        <p:spPr>
          <a:xfrm>
            <a:off x="841248" y="3337269"/>
            <a:ext cx="10509504" cy="2905686"/>
          </a:xfrm>
        </p:spPr>
        <p:txBody>
          <a:bodyPr vert="horz" lIns="91440" tIns="45720" rIns="91440" bIns="45720" rtlCol="0">
            <a:normAutofit/>
          </a:bodyPr>
          <a:lstStyle/>
          <a:p>
            <a:r>
              <a:rPr lang="en-US" sz="2200">
                <a:ea typeface="+mn-lt"/>
                <a:cs typeface="+mn-lt"/>
              </a:rPr>
              <a:t>Click the "Choose File" button.</a:t>
            </a:r>
            <a:endParaRPr lang="en-US" sz="2200">
              <a:cs typeface="Calibri" panose="020F0502020204030204"/>
            </a:endParaRPr>
          </a:p>
          <a:p>
            <a:r>
              <a:rPr lang="en-US" sz="2200">
                <a:ea typeface="+mn-lt"/>
                <a:cs typeface="+mn-lt"/>
              </a:rPr>
              <a:t>Navigate to your HTML file in the file explorer and select it.</a:t>
            </a:r>
            <a:endParaRPr lang="en-US" sz="2200">
              <a:cs typeface="Calibri" panose="020F0502020204030204"/>
            </a:endParaRPr>
          </a:p>
          <a:p>
            <a:r>
              <a:rPr lang="en-US" sz="2200">
                <a:ea typeface="+mn-lt"/>
                <a:cs typeface="+mn-lt"/>
              </a:rPr>
              <a:t>Click on the "Check" button.</a:t>
            </a:r>
            <a:endParaRPr lang="en-US" sz="2200">
              <a:cs typeface="Calibri" panose="020F0502020204030204"/>
            </a:endParaRPr>
          </a:p>
          <a:p>
            <a:pPr marL="0" indent="0">
              <a:buNone/>
            </a:pPr>
            <a:endParaRPr lang="en-US" sz="2200">
              <a:cs typeface="Calibri" panose="020F0502020204030204"/>
            </a:endParaRPr>
          </a:p>
        </p:txBody>
      </p:sp>
    </p:spTree>
    <p:extLst>
      <p:ext uri="{BB962C8B-B14F-4D97-AF65-F5344CB8AC3E}">
        <p14:creationId xmlns:p14="http://schemas.microsoft.com/office/powerpoint/2010/main" val="40566713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3378BE-C1AB-3CB7-E245-2E3A8DD8857F}"/>
              </a:ext>
            </a:extLst>
          </p:cNvPr>
          <p:cNvSpPr>
            <a:spLocks noGrp="1"/>
          </p:cNvSpPr>
          <p:nvPr>
            <p:ph type="title"/>
          </p:nvPr>
        </p:nvSpPr>
        <p:spPr>
          <a:xfrm>
            <a:off x="841248" y="426720"/>
            <a:ext cx="10506456" cy="1919141"/>
          </a:xfrm>
        </p:spPr>
        <p:txBody>
          <a:bodyPr anchor="b">
            <a:normAutofit/>
          </a:bodyPr>
          <a:lstStyle/>
          <a:p>
            <a:r>
              <a:rPr lang="en-US" sz="6000">
                <a:cs typeface="Calibri Light"/>
              </a:rPr>
              <a:t>Review the validation rules</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1415735-4AE4-9ED0-E135-32980FBE55FA}"/>
              </a:ext>
            </a:extLst>
          </p:cNvPr>
          <p:cNvSpPr>
            <a:spLocks noGrp="1"/>
          </p:cNvSpPr>
          <p:nvPr>
            <p:ph idx="1"/>
          </p:nvPr>
        </p:nvSpPr>
        <p:spPr>
          <a:xfrm>
            <a:off x="841248" y="3337269"/>
            <a:ext cx="10509504" cy="2905686"/>
          </a:xfrm>
        </p:spPr>
        <p:txBody>
          <a:bodyPr vert="horz" lIns="91440" tIns="45720" rIns="91440" bIns="45720" rtlCol="0">
            <a:normAutofit/>
          </a:bodyPr>
          <a:lstStyle/>
          <a:p>
            <a:pPr marL="0" indent="0">
              <a:buNone/>
            </a:pPr>
            <a:r>
              <a:rPr lang="en-US" sz="2000">
                <a:ea typeface="+mn-lt"/>
                <a:cs typeface="+mn-lt"/>
              </a:rPr>
              <a:t>The validator will analyse your HTML file and display the validation results. </a:t>
            </a:r>
          </a:p>
          <a:p>
            <a:pPr marL="0" indent="0">
              <a:buNone/>
            </a:pPr>
            <a:r>
              <a:rPr lang="en-US" sz="2000">
                <a:ea typeface="+mn-lt"/>
                <a:cs typeface="+mn-lt"/>
              </a:rPr>
              <a:t>It will show errors, warnings, or information about your HTML code.</a:t>
            </a:r>
          </a:p>
          <a:p>
            <a:pPr marL="0" indent="0">
              <a:buNone/>
            </a:pPr>
            <a:r>
              <a:rPr lang="en-US" sz="2000" b="1">
                <a:ea typeface="+mn-lt"/>
                <a:cs typeface="+mn-lt"/>
              </a:rPr>
              <a:t>Errors:</a:t>
            </a:r>
            <a:r>
              <a:rPr lang="en-US" sz="2000">
                <a:ea typeface="+mn-lt"/>
                <a:cs typeface="+mn-lt"/>
              </a:rPr>
              <a:t> These are critical issues that need to be fixed as they indicate problems that can affect how your website is displayed or functions.</a:t>
            </a:r>
            <a:endParaRPr lang="en-US" sz="2000"/>
          </a:p>
          <a:p>
            <a:pPr marL="0" indent="0">
              <a:buNone/>
            </a:pPr>
            <a:r>
              <a:rPr lang="en-US" sz="2000" b="1">
                <a:ea typeface="+mn-lt"/>
                <a:cs typeface="+mn-lt"/>
              </a:rPr>
              <a:t>Warnings:</a:t>
            </a:r>
            <a:r>
              <a:rPr lang="en-US" sz="2000">
                <a:ea typeface="+mn-lt"/>
                <a:cs typeface="+mn-lt"/>
              </a:rPr>
              <a:t> These are issues that don't necessarily break your code but could cause unexpected behavior or future problems.</a:t>
            </a:r>
            <a:endParaRPr lang="en-US" sz="2000"/>
          </a:p>
          <a:p>
            <a:pPr marL="0" indent="0">
              <a:buNone/>
            </a:pPr>
            <a:r>
              <a:rPr lang="en-US" sz="2000" b="1">
                <a:ea typeface="+mn-lt"/>
                <a:cs typeface="+mn-lt"/>
              </a:rPr>
              <a:t>Information:</a:t>
            </a:r>
            <a:r>
              <a:rPr lang="en-US" sz="2000">
                <a:ea typeface="+mn-lt"/>
                <a:cs typeface="+mn-lt"/>
              </a:rPr>
              <a:t> These are notices about your code that might be helpful but don't necessarily indicate problems.</a:t>
            </a:r>
            <a:endParaRPr lang="en-US" sz="2000"/>
          </a:p>
          <a:p>
            <a:pPr marL="0" indent="0">
              <a:buNone/>
            </a:pPr>
            <a:endParaRPr lang="en-US" sz="2000">
              <a:cs typeface="Calibri"/>
            </a:endParaRPr>
          </a:p>
        </p:txBody>
      </p:sp>
    </p:spTree>
    <p:extLst>
      <p:ext uri="{BB962C8B-B14F-4D97-AF65-F5344CB8AC3E}">
        <p14:creationId xmlns:p14="http://schemas.microsoft.com/office/powerpoint/2010/main" val="39622598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EED8A3-B00B-40FF-852E-BA99631AF2A5}"/>
              </a:ext>
            </a:extLst>
          </p:cNvPr>
          <p:cNvSpPr>
            <a:spLocks noGrp="1"/>
          </p:cNvSpPr>
          <p:nvPr>
            <p:ph type="title"/>
          </p:nvPr>
        </p:nvSpPr>
        <p:spPr>
          <a:xfrm>
            <a:off x="841248" y="426720"/>
            <a:ext cx="10506456" cy="1919141"/>
          </a:xfrm>
        </p:spPr>
        <p:txBody>
          <a:bodyPr anchor="b">
            <a:normAutofit/>
          </a:bodyPr>
          <a:lstStyle/>
          <a:p>
            <a:r>
              <a:rPr lang="en-US" sz="6000">
                <a:cs typeface="Calibri Light"/>
              </a:rPr>
              <a:t>Address the issues</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DF865BBA-E88C-543B-F14A-765CB236A1C4}"/>
              </a:ext>
            </a:extLst>
          </p:cNvPr>
          <p:cNvSpPr>
            <a:spLocks noGrp="1"/>
          </p:cNvSpPr>
          <p:nvPr>
            <p:ph idx="1"/>
          </p:nvPr>
        </p:nvSpPr>
        <p:spPr>
          <a:xfrm>
            <a:off x="841248" y="3337269"/>
            <a:ext cx="10509504" cy="2905686"/>
          </a:xfrm>
        </p:spPr>
        <p:txBody>
          <a:bodyPr vert="horz" lIns="91440" tIns="45720" rIns="91440" bIns="45720" rtlCol="0">
            <a:normAutofit/>
          </a:bodyPr>
          <a:lstStyle/>
          <a:p>
            <a:r>
              <a:rPr lang="en-US" sz="2200">
                <a:cs typeface="Calibri"/>
              </a:rPr>
              <a:t>Review the errors and warnings provided by the validator.</a:t>
            </a:r>
          </a:p>
          <a:p>
            <a:r>
              <a:rPr lang="en-US" sz="2200">
                <a:cs typeface="Calibri"/>
              </a:rPr>
              <a:t>Go back to your code in Visual Studio Code and make necessary changes to fix the issues.</a:t>
            </a:r>
            <a:endParaRPr lang="en-US" sz="2200"/>
          </a:p>
          <a:p>
            <a:r>
              <a:rPr lang="en-US" sz="2200">
                <a:cs typeface="Calibri"/>
              </a:rPr>
              <a:t>Save the file after making changes.</a:t>
            </a:r>
            <a:endParaRPr lang="en-US" sz="2200"/>
          </a:p>
          <a:p>
            <a:endParaRPr lang="en-US" sz="2200">
              <a:cs typeface="Calibri"/>
            </a:endParaRPr>
          </a:p>
        </p:txBody>
      </p:sp>
    </p:spTree>
    <p:extLst>
      <p:ext uri="{BB962C8B-B14F-4D97-AF65-F5344CB8AC3E}">
        <p14:creationId xmlns:p14="http://schemas.microsoft.com/office/powerpoint/2010/main" val="21619782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BB2B1F0-0DD6-4744-9A46-7A344FB48E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A9463-2C86-D598-2010-BBF4A5EB7904}"/>
              </a:ext>
            </a:extLst>
          </p:cNvPr>
          <p:cNvSpPr>
            <a:spLocks noGrp="1"/>
          </p:cNvSpPr>
          <p:nvPr>
            <p:ph type="title"/>
          </p:nvPr>
        </p:nvSpPr>
        <p:spPr>
          <a:xfrm>
            <a:off x="841248" y="426720"/>
            <a:ext cx="10506456" cy="1919141"/>
          </a:xfrm>
        </p:spPr>
        <p:txBody>
          <a:bodyPr anchor="b">
            <a:normAutofit/>
          </a:bodyPr>
          <a:lstStyle/>
          <a:p>
            <a:r>
              <a:rPr lang="en-US" sz="6000">
                <a:cs typeface="Calibri Light"/>
              </a:rPr>
              <a:t>Re-validate</a:t>
            </a:r>
            <a:endParaRPr lang="en-US" sz="6000"/>
          </a:p>
        </p:txBody>
      </p:sp>
      <p:sp>
        <p:nvSpPr>
          <p:cNvPr id="10" name="Rectangle 9">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2899927"/>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2776031"/>
            <a:ext cx="1873457" cy="13716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42C9E3FE-8C85-1F77-030F-780602BFA415}"/>
              </a:ext>
            </a:extLst>
          </p:cNvPr>
          <p:cNvSpPr>
            <a:spLocks noGrp="1"/>
          </p:cNvSpPr>
          <p:nvPr>
            <p:ph idx="1"/>
          </p:nvPr>
        </p:nvSpPr>
        <p:spPr>
          <a:xfrm>
            <a:off x="841248" y="3337269"/>
            <a:ext cx="10509504" cy="2905686"/>
          </a:xfrm>
        </p:spPr>
        <p:txBody>
          <a:bodyPr vert="horz" lIns="91440" tIns="45720" rIns="91440" bIns="45720" rtlCol="0">
            <a:normAutofit/>
          </a:bodyPr>
          <a:lstStyle/>
          <a:p>
            <a:r>
              <a:rPr lang="en-US" sz="2200">
                <a:ea typeface="+mn-lt"/>
                <a:cs typeface="+mn-lt"/>
              </a:rPr>
              <a:t>Repeat the process by re-uploading the updated HTML file to the W3C Markup Validation Service to ensure you've addressed all the issues.</a:t>
            </a:r>
            <a:endParaRPr lang="en-US" sz="2200">
              <a:cs typeface="Calibri" panose="020F0502020204030204"/>
            </a:endParaRPr>
          </a:p>
          <a:p>
            <a:r>
              <a:rPr lang="en-US" sz="2200">
                <a:ea typeface="+mn-lt"/>
                <a:cs typeface="+mn-lt"/>
              </a:rPr>
              <a:t>Remember, fixing validation errors doesn't guarantee that your website will look the same on all browsers, but it helps ensure your HTML is correctly structured according to standards, which can reduce compatibility issues.</a:t>
            </a:r>
            <a:endParaRPr lang="en-US" sz="2200"/>
          </a:p>
          <a:p>
            <a:endParaRPr lang="en-US" sz="2200">
              <a:cs typeface="Calibri"/>
            </a:endParaRPr>
          </a:p>
        </p:txBody>
      </p:sp>
    </p:spTree>
    <p:extLst>
      <p:ext uri="{BB962C8B-B14F-4D97-AF65-F5344CB8AC3E}">
        <p14:creationId xmlns:p14="http://schemas.microsoft.com/office/powerpoint/2010/main" val="3259795162"/>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63773fb-03c0-4cce-af73-5aa8a63e860a">
      <Terms xmlns="http://schemas.microsoft.com/office/infopath/2007/PartnerControls"/>
    </lcf76f155ced4ddcb4097134ff3c332f>
    <TaxCatchAll xmlns="c3ac4071-52a5-43c2-867b-5805bb878251"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A65041AEBCC89F4CA3666641D93D22D1" ma:contentTypeVersion="12" ma:contentTypeDescription="Create a new document." ma:contentTypeScope="" ma:versionID="487f6a5e72a852c63410cb7281c85acf">
  <xsd:schema xmlns:xsd="http://www.w3.org/2001/XMLSchema" xmlns:xs="http://www.w3.org/2001/XMLSchema" xmlns:p="http://schemas.microsoft.com/office/2006/metadata/properties" xmlns:ns2="763773fb-03c0-4cce-af73-5aa8a63e860a" xmlns:ns3="c3ac4071-52a5-43c2-867b-5805bb878251" targetNamespace="http://schemas.microsoft.com/office/2006/metadata/properties" ma:root="true" ma:fieldsID="cb47cf1b70ed6fa1b1627514ad30c773" ns2:_="" ns3:_="">
    <xsd:import namespace="763773fb-03c0-4cce-af73-5aa8a63e860a"/>
    <xsd:import namespace="c3ac4071-52a5-43c2-867b-5805bb87825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63773fb-03c0-4cce-af73-5aa8a63e86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87c8ee4-d1cb-493a-b1c2-7de609d09735"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c3ac4071-52a5-43c2-867b-5805bb878251"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7e8232ce-b872-429a-9d37-30e9b7c766e6}" ma:internalName="TaxCatchAll" ma:showField="CatchAllData" ma:web="c3ac4071-52a5-43c2-867b-5805bb87825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E944127-25DA-48D6-AAF2-30453C2C8D86}">
  <ds:schemaRefs>
    <ds:schemaRef ds:uri="http://schemas.microsoft.com/office/2006/metadata/properties"/>
    <ds:schemaRef ds:uri="http://schemas.microsoft.com/office/infopath/2007/PartnerControls"/>
    <ds:schemaRef ds:uri="b4ff53b0-a06c-468b-91d3-30cc7bb11afe"/>
  </ds:schemaRefs>
</ds:datastoreItem>
</file>

<file path=customXml/itemProps2.xml><?xml version="1.0" encoding="utf-8"?>
<ds:datastoreItem xmlns:ds="http://schemas.openxmlformats.org/officeDocument/2006/customXml" ds:itemID="{51D4E3E9-A4D3-48BD-AA86-52B0E6B2727F}">
  <ds:schemaRefs>
    <ds:schemaRef ds:uri="http://schemas.microsoft.com/sharepoint/v3/contenttype/forms"/>
  </ds:schemaRefs>
</ds:datastoreItem>
</file>

<file path=customXml/itemProps3.xml><?xml version="1.0" encoding="utf-8"?>
<ds:datastoreItem xmlns:ds="http://schemas.openxmlformats.org/officeDocument/2006/customXml" ds:itemID="{55DE4977-B26E-4263-AB27-D8BC5428F7FF}"/>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W3C Validator</vt:lpstr>
      <vt:lpstr>What is the W3C Markup Validation Service</vt:lpstr>
      <vt:lpstr>Get your HTML File Ready </vt:lpstr>
      <vt:lpstr>Access the W3C Markup Validation Service</vt:lpstr>
      <vt:lpstr>Upload your HTML file</vt:lpstr>
      <vt:lpstr>Review the validation rules</vt:lpstr>
      <vt:lpstr>Address the issues</vt:lpstr>
      <vt:lpstr>Re-validate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105</cp:revision>
  <dcterms:created xsi:type="dcterms:W3CDTF">2023-12-07T10:53:44Z</dcterms:created>
  <dcterms:modified xsi:type="dcterms:W3CDTF">2025-12-08T09:53:57Z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0x010100A65041AEBCC89F4CA3666641D93D22D1</vt:lpwstr>
  </property>
</Properties>
</file>